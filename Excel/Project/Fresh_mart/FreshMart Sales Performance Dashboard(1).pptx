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Inter" panose="020B0604020202020204" charset="0"/>
      <p:regular r:id="rId9"/>
      <p:bold r:id="rId10"/>
      <p:italic r:id="rId11"/>
      <p:boldItalic r:id="rId12"/>
    </p:embeddedFont>
    <p:embeddedFont>
      <p:font typeface="Plus Jakarta Sans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1334"/>
    <a:srgbClr val="FF0066"/>
    <a:srgbClr val="A50021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3665" y="1466850"/>
            <a:ext cx="4878734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37015" y="1600200"/>
            <a:ext cx="4612034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609600" y="2255490"/>
            <a:ext cx="6018720" cy="1708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FreshMart Sales Performance Dashboard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4116585"/>
            <a:ext cx="704608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BE185D"/>
                </a:solidFill>
                <a:latin typeface="Inter"/>
                <a:ea typeface="Inter"/>
                <a:cs typeface="Inter"/>
                <a:sym typeface="Inter"/>
              </a:rPr>
              <a:t>Interactive Business Intelligence &amp; Executive Analytics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4573785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Converting raw transactional data into high-impact KPIs, dynamic pivot analytics, and automated decision-making tools.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6362700" y="2169765"/>
            <a:ext cx="5219700" cy="3470820"/>
          </a:xfrm>
          <a:prstGeom prst="roundRect">
            <a:avLst>
              <a:gd name="adj" fmla="val 4390"/>
            </a:avLst>
          </a:prstGeom>
          <a:solidFill>
            <a:srgbClr val="A1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09600" y="2881312"/>
            <a:ext cx="5448300" cy="50482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09600" y="3519487"/>
            <a:ext cx="5448300" cy="50482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09600" y="4157662"/>
            <a:ext cx="5448300" cy="50482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09600" y="4795837"/>
            <a:ext cx="5448300" cy="50482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743700" y="2550765"/>
            <a:ext cx="1895475" cy="276225"/>
          </a:xfrm>
          <a:prstGeom prst="roundRect">
            <a:avLst>
              <a:gd name="adj" fmla="val 50000"/>
            </a:avLst>
          </a:prstGeom>
          <a:solidFill>
            <a:srgbClr val="B446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743700" y="4573785"/>
            <a:ext cx="4457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09600" y="2881312"/>
            <a:ext cx="38100" cy="504825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09600" y="3519487"/>
            <a:ext cx="38100" cy="504825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09600" y="4157662"/>
            <a:ext cx="38100" cy="504825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09600" y="4795837"/>
            <a:ext cx="38100" cy="504825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743700" y="4573785"/>
            <a:ext cx="44577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30384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36766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43148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49530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E185D"/>
                </a:solidFill>
                <a:latin typeface="Inter"/>
                <a:ea typeface="Inter"/>
                <a:cs typeface="Inter"/>
                <a:sym typeface="Inter"/>
              </a:rPr>
              <a:t>PROBLEM STATEMENT &amp; OBJECTIVE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09600" y="695325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Bridging Operational Data Gaps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09600" y="2509837"/>
            <a:ext cx="68103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Core Operational Challenges: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877050" y="2607915"/>
            <a:ext cx="17240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DASHBOARD SOLUTION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6743700" y="3017490"/>
            <a:ext cx="5448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Decision Engine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743700" y="3484215"/>
            <a:ext cx="45529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CE7F3"/>
                </a:solidFill>
                <a:latin typeface="Inter"/>
                <a:ea typeface="Inter"/>
                <a:cs typeface="Inter"/>
                <a:sym typeface="Inter"/>
              </a:rPr>
              <a:t>Build an interactive Excel dashboard with dynamic slicers to evaluate store health, transaction volumes, and product margins in seconds.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162050" y="3033712"/>
            <a:ext cx="516731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dirty="0"/>
              <a:t>No tracking of net profits versus store expenses.</a:t>
            </a:r>
            <a:endParaRPr dirty="0"/>
          </a:p>
        </p:txBody>
      </p:sp>
      <p:sp>
        <p:nvSpPr>
          <p:cNvPr id="120" name="Google Shape;120;p14"/>
          <p:cNvSpPr txBox="1"/>
          <p:nvPr/>
        </p:nvSpPr>
        <p:spPr>
          <a:xfrm>
            <a:off x="1162050" y="3671887"/>
            <a:ext cx="584596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dirty="0"/>
              <a:t>Slow counting of total sales and units by hand.</a:t>
            </a:r>
            <a:endParaRPr dirty="0"/>
          </a:p>
        </p:txBody>
      </p:sp>
      <p:sp>
        <p:nvSpPr>
          <p:cNvPr id="121" name="Google Shape;121;p14"/>
          <p:cNvSpPr txBox="1"/>
          <p:nvPr/>
        </p:nvSpPr>
        <p:spPr>
          <a:xfrm>
            <a:off x="1162050" y="4310062"/>
            <a:ext cx="540543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/>
              <a:t>Unclear view of which categories make profit.</a:t>
            </a:r>
            <a:endParaRPr dirty="0"/>
          </a:p>
        </p:txBody>
      </p:sp>
      <p:sp>
        <p:nvSpPr>
          <p:cNvPr id="122" name="Google Shape;122;p14"/>
          <p:cNvSpPr txBox="1"/>
          <p:nvPr/>
        </p:nvSpPr>
        <p:spPr>
          <a:xfrm>
            <a:off x="1162050" y="4948237"/>
            <a:ext cx="53459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dirty="0"/>
              <a:t>Slow comparison between store, web, and app sales.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" name="Google Shape;123;p14"/>
          <p:cNvSpPr txBox="1"/>
          <p:nvPr/>
        </p:nvSpPr>
        <p:spPr>
          <a:xfrm>
            <a:off x="6743700" y="4773810"/>
            <a:ext cx="167878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CFE8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743700" y="5097660"/>
            <a:ext cx="167878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CE7F3"/>
                </a:solidFill>
                <a:latin typeface="Inter"/>
                <a:ea typeface="Inter"/>
                <a:cs typeface="Inter"/>
                <a:sym typeface="Inter"/>
              </a:rPr>
              <a:t>Automated Reporting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8315325" y="477381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CFE8"/>
                </a:solidFill>
                <a:latin typeface="Inter"/>
                <a:ea typeface="Inter"/>
                <a:cs typeface="Inter"/>
                <a:sym typeface="Inter"/>
              </a:rPr>
              <a:t>4 Slicers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315325" y="5097660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CE7F3"/>
                </a:solidFill>
                <a:latin typeface="Inter"/>
                <a:ea typeface="Inter"/>
                <a:cs typeface="Inter"/>
                <a:sym typeface="Inter"/>
              </a:rPr>
              <a:t>Instant Cross-Filtering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609600" y="1333500"/>
            <a:ext cx="2072580" cy="933450"/>
          </a:xfrm>
          <a:prstGeom prst="roundRect">
            <a:avLst>
              <a:gd name="adj" fmla="val 12244"/>
            </a:avLst>
          </a:prstGeom>
          <a:solidFill>
            <a:srgbClr val="FDF2F8"/>
          </a:solidFill>
          <a:ln w="9525" cap="flat" cmpd="sng">
            <a:solidFill>
              <a:srgbClr val="FBC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2834580" y="1333500"/>
            <a:ext cx="2072580" cy="933450"/>
          </a:xfrm>
          <a:prstGeom prst="roundRect">
            <a:avLst>
              <a:gd name="adj" fmla="val 12244"/>
            </a:avLst>
          </a:prstGeom>
          <a:solidFill>
            <a:srgbClr val="FDF2F8"/>
          </a:solidFill>
          <a:ln w="9525" cap="flat" cmpd="sng">
            <a:solidFill>
              <a:srgbClr val="FBC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059560" y="1333500"/>
            <a:ext cx="2072580" cy="933450"/>
          </a:xfrm>
          <a:prstGeom prst="roundRect">
            <a:avLst>
              <a:gd name="adj" fmla="val 12244"/>
            </a:avLst>
          </a:prstGeom>
          <a:solidFill>
            <a:srgbClr val="FDF2F8"/>
          </a:solidFill>
          <a:ln w="9525" cap="flat" cmpd="sng">
            <a:solidFill>
              <a:srgbClr val="FBC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7284541" y="1333500"/>
            <a:ext cx="2072580" cy="933450"/>
          </a:xfrm>
          <a:prstGeom prst="roundRect">
            <a:avLst>
              <a:gd name="adj" fmla="val 12244"/>
            </a:avLst>
          </a:prstGeom>
          <a:solidFill>
            <a:srgbClr val="FDF2F8"/>
          </a:solidFill>
          <a:ln w="9525" cap="flat" cmpd="sng">
            <a:solidFill>
              <a:srgbClr val="FBC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9509521" y="1333500"/>
            <a:ext cx="2072580" cy="933450"/>
          </a:xfrm>
          <a:prstGeom prst="roundRect">
            <a:avLst>
              <a:gd name="adj" fmla="val 12244"/>
            </a:avLst>
          </a:prstGeom>
          <a:solidFill>
            <a:srgbClr val="FDF2F8"/>
          </a:solidFill>
          <a:ln w="9525" cap="flat" cmpd="sng">
            <a:solidFill>
              <a:srgbClr val="FBC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6764684" y="3390900"/>
            <a:ext cx="4817715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6764684" y="4619625"/>
            <a:ext cx="4817715" cy="885825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924175"/>
            <a:ext cx="5926484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0165" y="148590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4195" y="148590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10126" y="148590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25581" y="1485900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50562" y="1485900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" y="2943225"/>
            <a:ext cx="5888384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64709" y="3609975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64709" y="48387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E185D"/>
                </a:solidFill>
                <a:latin typeface="Inter"/>
                <a:ea typeface="Inter"/>
                <a:cs typeface="Inter"/>
                <a:sym typeface="Inter"/>
              </a:rPr>
              <a:t>INTERACTIVE SOLUTION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09600" y="695325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FreshMart Executive Dashboard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529121" y="1695450"/>
            <a:ext cx="223353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₹28.95 L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529121" y="1962150"/>
            <a:ext cx="223353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Sales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2754101" y="1695450"/>
            <a:ext cx="223353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₹21.55 L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2754101" y="1962150"/>
            <a:ext cx="223353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Cost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4979082" y="1695450"/>
            <a:ext cx="223353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₹7.37 L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4979082" y="1962150"/>
            <a:ext cx="223353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Profit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7204062" y="1695450"/>
            <a:ext cx="223353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2,501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7204062" y="1962150"/>
            <a:ext cx="223353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Transactions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9429043" y="1695450"/>
            <a:ext cx="223353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9,858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9429043" y="1962150"/>
            <a:ext cx="223353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Units Sold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964709" y="3590925"/>
            <a:ext cx="522729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831843"/>
                </a:solidFill>
                <a:latin typeface="Inter"/>
                <a:ea typeface="Inter"/>
                <a:cs typeface="Inter"/>
                <a:sym typeface="Inter"/>
              </a:rPr>
              <a:t>4 Core Visual Charts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964709" y="3886200"/>
            <a:ext cx="45129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Monthly Sales &amp; Profit • Sales by Category • Profit by Category • Sales Channel Split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6964709" y="4819650"/>
            <a:ext cx="522729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831843"/>
                </a:solidFill>
                <a:latin typeface="Inter"/>
                <a:ea typeface="Inter"/>
                <a:cs typeface="Inter"/>
                <a:sym typeface="Inter"/>
              </a:rPr>
              <a:t>4 Dynamic Slicers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6964709" y="5114925"/>
            <a:ext cx="522729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Category • Sales Channel • Payment Mode • Return Status</a:t>
            </a:r>
            <a:endParaRPr/>
          </a:p>
        </p:txBody>
      </p:sp>
      <p:pic>
        <p:nvPicPr>
          <p:cNvPr id="163" name="Google Shape;163;p15" title="Screenshot 2026-09-17 155423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0500" y="2495550"/>
            <a:ext cx="6474175" cy="41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/>
          <p:nvPr/>
        </p:nvSpPr>
        <p:spPr>
          <a:xfrm>
            <a:off x="609600" y="2228850"/>
            <a:ext cx="539115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6191250" y="2228850"/>
            <a:ext cx="539115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609600" y="3962400"/>
            <a:ext cx="539115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6191250" y="3962400"/>
            <a:ext cx="539115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609600" y="3762375"/>
            <a:ext cx="5391150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609600" y="2228850"/>
            <a:ext cx="5391150" cy="381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609600" y="2228850"/>
            <a:ext cx="9525" cy="1543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5991225" y="2228850"/>
            <a:ext cx="9525" cy="1543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6191250" y="3762375"/>
            <a:ext cx="5391150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191250" y="2228850"/>
            <a:ext cx="5391150" cy="381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6191250" y="2228850"/>
            <a:ext cx="9525" cy="1543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11572875" y="2228850"/>
            <a:ext cx="9525" cy="1543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609600" y="5495925"/>
            <a:ext cx="5391150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609600" y="3962400"/>
            <a:ext cx="5391150" cy="381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609600" y="3962400"/>
            <a:ext cx="9525" cy="1543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5991225" y="3962400"/>
            <a:ext cx="9525" cy="1543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6191250" y="5495925"/>
            <a:ext cx="5391150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6191250" y="3962400"/>
            <a:ext cx="5391150" cy="381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6191250" y="3962400"/>
            <a:ext cx="9525" cy="1543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11572875" y="3962400"/>
            <a:ext cx="9525" cy="1543050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25003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9375" y="250031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7725" y="42338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29375" y="423386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E185D"/>
                </a:solidFill>
                <a:latin typeface="Inter"/>
                <a:ea typeface="Inter"/>
                <a:cs typeface="Inter"/>
                <a:sym typeface="Inter"/>
              </a:rPr>
              <a:t>TECHNICAL ARCHITECTURE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609600" y="695325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Analysis Structure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847725" y="2809875"/>
            <a:ext cx="6143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Rows: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Transaction Date (Month/Year)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847725" y="3057525"/>
            <a:ext cx="6143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Values: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Sales Amount, Net Profit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847725" y="3343275"/>
            <a:ext cx="6143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31843"/>
                </a:solidFill>
                <a:latin typeface="Inter"/>
                <a:ea typeface="Inter"/>
                <a:cs typeface="Inter"/>
                <a:sym typeface="Inter"/>
              </a:rPr>
              <a:t>Tracks revenue trajectory and seasonal spikes.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6429375" y="2809875"/>
            <a:ext cx="5762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Rows: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Product Category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6429375" y="3057525"/>
            <a:ext cx="5762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Values: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Sum of Sales Amount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6429375" y="3343275"/>
            <a:ext cx="5762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31843"/>
                </a:solidFill>
                <a:latin typeface="Inter"/>
                <a:ea typeface="Inter"/>
                <a:cs typeface="Inter"/>
                <a:sym typeface="Inter"/>
              </a:rPr>
              <a:t>Identifies top revenue-generating product lines.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847725" y="4543425"/>
            <a:ext cx="6143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Rows: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Product Category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847725" y="4791075"/>
            <a:ext cx="6143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Values: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Sum of Net Profit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847725" y="5076825"/>
            <a:ext cx="6143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31843"/>
                </a:solidFill>
                <a:latin typeface="Inter"/>
                <a:ea typeface="Inter"/>
                <a:cs typeface="Inter"/>
                <a:sym typeface="Inter"/>
              </a:rPr>
              <a:t>Highlights bottom-line margin drivers.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6429375" y="4543425"/>
            <a:ext cx="5762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Rows: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Sales Channel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6429375" y="4791075"/>
            <a:ext cx="5762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Values: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Sum of Sales Amount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6429375" y="5076825"/>
            <a:ext cx="5762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31843"/>
                </a:solidFill>
                <a:latin typeface="Inter"/>
                <a:ea typeface="Inter"/>
                <a:cs typeface="Inter"/>
                <a:sym typeface="Inter"/>
              </a:rPr>
              <a:t>Evaluates In-Store, Mobile App, and Web volume.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1133475" y="2495550"/>
            <a:ext cx="263782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1. Monthly Sales &amp; Profit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6762750" y="2495550"/>
            <a:ext cx="223777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2. Sales by Category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1152525" y="4229100"/>
            <a:ext cx="226278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3. Profit by Category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6781800" y="4229100"/>
            <a:ext cx="212526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4. Sales by Channel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/>
          <p:nvPr/>
        </p:nvSpPr>
        <p:spPr>
          <a:xfrm>
            <a:off x="609600" y="2162175"/>
            <a:ext cx="5353050" cy="2362200"/>
          </a:xfrm>
          <a:prstGeom prst="roundRect">
            <a:avLst>
              <a:gd name="adj" fmla="val 5645"/>
            </a:avLst>
          </a:prstGeom>
          <a:solidFill>
            <a:srgbClr val="FDF2F8"/>
          </a:solidFill>
          <a:ln w="9525" cap="flat" cmpd="sng">
            <a:solidFill>
              <a:srgbClr val="FBC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6229350" y="2162175"/>
            <a:ext cx="5353050" cy="2362200"/>
          </a:xfrm>
          <a:prstGeom prst="roundRect">
            <a:avLst>
              <a:gd name="adj" fmla="val 564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825" y="245745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5575" y="24574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E185D"/>
                </a:solidFill>
                <a:latin typeface="Inter"/>
                <a:ea typeface="Inter"/>
                <a:cs typeface="Inter"/>
                <a:sym typeface="Inter"/>
              </a:rPr>
              <a:t>BUSINESS VALUE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609600" y="695325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Insights &amp; Impact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885825" y="2438400"/>
            <a:ext cx="63007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E185D"/>
                </a:solidFill>
                <a:latin typeface="Inter"/>
                <a:ea typeface="Inter"/>
                <a:cs typeface="Inter"/>
                <a:sym typeface="Inter"/>
              </a:rPr>
              <a:t>Data Insights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6505575" y="2438400"/>
            <a:ext cx="5686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Management Benefits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885825" y="281940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Revenue &amp; Margin: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₹28.95 L Sales with ~25.4% healthy profit margin (₹7.37 L).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885825" y="333375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Volume: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Processed 2,501 orders across 9,858 units sold.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885825" y="384810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Seasonality: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Monthly trend tracking isolates peak purchasing periods.</a:t>
            </a:r>
            <a:endParaRPr dirty="0"/>
          </a:p>
        </p:txBody>
      </p:sp>
      <p:sp>
        <p:nvSpPr>
          <p:cNvPr id="227" name="Google Shape;227;p17"/>
          <p:cNvSpPr txBox="1"/>
          <p:nvPr/>
        </p:nvSpPr>
        <p:spPr>
          <a:xfrm>
            <a:off x="6505575" y="281940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 Monitoring: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Real-time tracking of headline business KPIs.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6505575" y="333375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Interactive Slicing: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Segment data by Channel, Category, and Return Status.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6505575" y="384810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Data-Driven Strategy: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Supports targeted inventory and promotion planning.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403519-6965-68C8-C9A7-C9B2DE6F39CD}"/>
              </a:ext>
            </a:extLst>
          </p:cNvPr>
          <p:cNvSpPr txBox="1"/>
          <p:nvPr/>
        </p:nvSpPr>
        <p:spPr>
          <a:xfrm>
            <a:off x="2878111" y="77948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2D144-186F-744B-20D7-6F493EF2EF2D}"/>
              </a:ext>
            </a:extLst>
          </p:cNvPr>
          <p:cNvSpPr txBox="1"/>
          <p:nvPr/>
        </p:nvSpPr>
        <p:spPr>
          <a:xfrm>
            <a:off x="869430" y="779489"/>
            <a:ext cx="1041816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buNone/>
            </a:pPr>
            <a:r>
              <a:rPr lang="en-IN" sz="2400" b="1" dirty="0">
                <a:solidFill>
                  <a:srgbClr val="AD1334"/>
                </a:solidFill>
                <a:effectLst/>
                <a:latin typeface="Arial"/>
              </a:rPr>
              <a:t>Actionable Recommendations</a:t>
            </a:r>
          </a:p>
          <a:p>
            <a:pPr marL="0" marR="0" rtl="0">
              <a:buNone/>
            </a:pPr>
            <a:br>
              <a:rPr lang="en-IN" dirty="0">
                <a:effectLst/>
                <a:latin typeface="Arial"/>
              </a:rPr>
            </a:br>
            <a:endParaRPr lang="en-IN" dirty="0">
              <a:effectLst/>
              <a:latin typeface="Arial"/>
            </a:endParaRPr>
          </a:p>
          <a:p>
            <a:pPr marL="0" marR="0" lvl="0" indent="-342900" rtl="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Arial"/>
              </a:rPr>
              <a:t>Promote High-Profit Products:</a:t>
            </a:r>
            <a:r>
              <a:rPr lang="en-IN" dirty="0">
                <a:effectLst/>
                <a:latin typeface="Arial"/>
              </a:rPr>
              <a:t> Feature Bakery items and Beverages at store entrances to maximize profit margins. </a:t>
            </a:r>
          </a:p>
          <a:p>
            <a:pPr marR="0" lvl="0" rtl="0"/>
            <a:br>
              <a:rPr lang="en-IN" dirty="0">
                <a:effectLst/>
                <a:latin typeface="Arial"/>
              </a:rPr>
            </a:br>
            <a:endParaRPr lang="en-IN" dirty="0">
              <a:effectLst/>
              <a:latin typeface="Arial"/>
            </a:endParaRPr>
          </a:p>
          <a:p>
            <a:pPr marL="0" marR="0" lvl="0" indent="-342900" rtl="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Arial"/>
              </a:rPr>
              <a:t>Grow Mobile Sales:</a:t>
            </a:r>
            <a:r>
              <a:rPr lang="en-IN" dirty="0">
                <a:effectLst/>
                <a:latin typeface="Arial"/>
              </a:rPr>
              <a:t> Offer exclusive discounts to expand the Mobile App channel from its current 10% share. </a:t>
            </a:r>
          </a:p>
          <a:p>
            <a:pPr marR="0" lvl="0" rtl="0"/>
            <a:br>
              <a:rPr lang="en-IN" dirty="0">
                <a:effectLst/>
                <a:latin typeface="Arial"/>
              </a:rPr>
            </a:br>
            <a:endParaRPr lang="en-IN" dirty="0">
              <a:effectLst/>
              <a:latin typeface="Arial"/>
            </a:endParaRPr>
          </a:p>
          <a:p>
            <a:pPr marL="0" marR="0" lvl="0" indent="-342900" rtl="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Arial"/>
              </a:rPr>
              <a:t>Prepare for Peak Season:</a:t>
            </a:r>
            <a:r>
              <a:rPr lang="en-IN" dirty="0">
                <a:effectLst/>
                <a:latin typeface="Arial"/>
              </a:rPr>
              <a:t> Increase inventory and staffing before October to handle the year-end sales spike. </a:t>
            </a:r>
          </a:p>
          <a:p>
            <a:pPr marR="0" lvl="0" rtl="0"/>
            <a:br>
              <a:rPr lang="en-IN" dirty="0">
                <a:effectLst/>
                <a:latin typeface="Arial"/>
              </a:rPr>
            </a:br>
            <a:endParaRPr lang="en-IN" dirty="0">
              <a:effectLst/>
              <a:latin typeface="Arial"/>
            </a:endParaRPr>
          </a:p>
          <a:p>
            <a:pPr marL="0" marR="0" lvl="0" indent="-342900" rtl="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Arial"/>
              </a:rPr>
              <a:t>Bundle Product Categories:</a:t>
            </a:r>
            <a:r>
              <a:rPr lang="en-IN" dirty="0">
                <a:effectLst/>
                <a:latin typeface="Arial"/>
              </a:rPr>
              <a:t> Pair low-margin staples like Rice with high-margin items like Spices to increase order values. </a:t>
            </a:r>
          </a:p>
          <a:p>
            <a:pPr marR="0" lvl="0" rtl="0"/>
            <a:br>
              <a:rPr lang="en-IN" dirty="0">
                <a:effectLst/>
                <a:latin typeface="Arial"/>
              </a:rPr>
            </a:br>
            <a:endParaRPr lang="en-IN" dirty="0">
              <a:effectLst/>
              <a:latin typeface="Arial"/>
            </a:endParaRPr>
          </a:p>
          <a:p>
            <a:pPr marL="0" marR="0" lvl="0" indent="-342900" rtl="0">
              <a:buFont typeface="Arial" panose="020B0604020202020204" pitchFamily="34" charset="0"/>
              <a:buChar char="•"/>
            </a:pPr>
            <a:r>
              <a:rPr lang="en-IN" b="1" dirty="0">
                <a:effectLst/>
                <a:latin typeface="Arial"/>
              </a:rPr>
              <a:t>Minimize Returns:</a:t>
            </a:r>
            <a:r>
              <a:rPr lang="en-IN" dirty="0">
                <a:effectLst/>
                <a:latin typeface="Arial"/>
              </a:rPr>
              <a:t> Track returned orders on the dashboard to identify and fix product quality issues. </a:t>
            </a:r>
            <a:endParaRPr lang="en-IN" dirty="0">
              <a:effectLst/>
              <a:latin typeface="Google Sans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453</Words>
  <Application>Microsoft Office PowerPoint</Application>
  <PresentationFormat>Widescreen</PresentationFormat>
  <Paragraphs>72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Plus Jakarta Sans</vt:lpstr>
      <vt:lpstr>Google Sans Text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S0250558</cp:lastModifiedBy>
  <cp:revision>3</cp:revision>
  <dcterms:modified xsi:type="dcterms:W3CDTF">2026-09-23T08:38:56Z</dcterms:modified>
</cp:coreProperties>
</file>